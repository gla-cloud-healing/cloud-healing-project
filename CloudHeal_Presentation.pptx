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1188720"/>
            <a:ext cx="82296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SECURE SELF-HEALING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56DB"/>
                </a:solidFill>
                <a:latin typeface="Calibri"/>
              </a:rPr>
              <a:t>CLOUD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63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4D0"/>
                </a:solidFill>
                <a:latin typeface="Calibri"/>
              </a:rPr>
              <a:t>WITH AUTOMATED MONITORING &amp; INCIDENT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5943600" cy="36576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809A"/>
                </a:solidFill>
                <a:latin typeface="Calibri"/>
              </a:rPr>
              <a:t>Submitted 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Dr. Monica Dutta  |  Asst. Professor, Dept. of Computer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074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809A"/>
                </a:solidFill>
                <a:latin typeface="Calibri"/>
              </a:rPr>
              <a:t>GLA University, Mathura  |  2024-25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280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809A"/>
                </a:solidFill>
                <a:latin typeface="Calibri"/>
              </a:rPr>
              <a:t>Team Members: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66360"/>
            <a:ext cx="2560320" cy="329184"/>
          </a:xfrm>
          <a:prstGeom prst="rect">
            <a:avLst/>
          </a:prstGeom>
          <a:solidFill>
            <a:srgbClr val="1A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029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0"/>
                </a:solidFill>
                <a:latin typeface="Calibri"/>
              </a:rPr>
              <a:t>Shiva Singh  |  2415001488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5166360"/>
            <a:ext cx="2560320" cy="329184"/>
          </a:xfrm>
          <a:prstGeom prst="rect">
            <a:avLst/>
          </a:prstGeom>
          <a:solidFill>
            <a:srgbClr val="1A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52029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0"/>
                </a:solidFill>
                <a:latin typeface="Calibri"/>
              </a:rPr>
              <a:t>Aditya Singh  |  2415000115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5166360"/>
            <a:ext cx="2560320" cy="329184"/>
          </a:xfrm>
          <a:prstGeom prst="rect">
            <a:avLst/>
          </a:prstGeom>
          <a:solidFill>
            <a:srgbClr val="1A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2029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0"/>
                </a:solidFill>
                <a:latin typeface="Calibri"/>
              </a:rPr>
              <a:t>Ayush Gupta  |  2415000406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50408"/>
            <a:ext cx="2560320" cy="329184"/>
          </a:xfrm>
          <a:prstGeom prst="rect">
            <a:avLst/>
          </a:prstGeom>
          <a:solidFill>
            <a:srgbClr val="1A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8698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0"/>
                </a:solidFill>
                <a:latin typeface="Calibri"/>
              </a:rPr>
              <a:t>Pranjal Tiwari  |  2415001143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550408"/>
            <a:ext cx="2560320" cy="329184"/>
          </a:xfrm>
          <a:prstGeom prst="rect">
            <a:avLst/>
          </a:prstGeom>
          <a:solidFill>
            <a:srgbClr val="1A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558698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8F0"/>
                </a:solidFill>
                <a:latin typeface="Calibri"/>
              </a:rPr>
              <a:t>Abhimanyu Sharma  |  2415000028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4630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1A357A"/>
                </a:solidFill>
                <a:latin typeface="Segoe UI Emoji"/>
              </a:rPr>
              <a:t>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251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6DB"/>
                </a:solidFill>
                <a:latin typeface="Calibri"/>
              </a:rPr>
              <a:t>CLOUDHEAL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D0"/>
                </a:solidFill>
                <a:latin typeface="Calibri"/>
              </a:rPr>
              <a:t>Why do we need self-healing infrastructure?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8288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UNEXPECTED CRASHES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8483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Servers crash unexpectedly at 3 AM. No one awake to fix it. App goes down.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57784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182880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27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SLOW MANUAL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8483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Manual detection + debugging takes 30-60 minutes. Users face downtime.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557784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182880" cy="20116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NO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1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Without monitoring, nobody knows the system is down until users complain.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49039"/>
            <a:ext cx="5577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49039"/>
            <a:ext cx="557784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49039"/>
            <a:ext cx="18288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913631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DOWNTIME =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370831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Every minute of downtime means lost users, reputation damage and revenue loss.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solidFill>
            <a:srgbClr val="0D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1996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7C4A"/>
                </a:solidFill>
                <a:latin typeface="Calibri"/>
              </a:rPr>
              <a:t>SOLUTION: Build a system that DETECTS, RESPONDS and RECOVERS automatically — no human needed!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D0"/>
                </a:solidFill>
                <a:latin typeface="Calibri"/>
              </a:rPr>
              <a:t>A self-healing cloud system — zero human intervention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14173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51760" cy="7315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7C4A"/>
                </a:solidFill>
                <a:latin typeface="Calibri"/>
              </a:rPr>
              <a:t>&lt; 30s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677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Recovery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417320"/>
            <a:ext cx="2651760" cy="14173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DB"/>
                </a:solidFill>
                <a:latin typeface="Calibri"/>
              </a:rPr>
              <a:t>3 Pods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677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K8s Always Running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2651760" cy="14173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17320"/>
            <a:ext cx="265176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45309"/>
                </a:solidFill>
                <a:latin typeface="Calibri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677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Auto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417320"/>
            <a:ext cx="2651760" cy="1417320"/>
          </a:xfrm>
          <a:prstGeom prst="rect">
            <a:avLst/>
          </a:prstGeom>
          <a:solidFill>
            <a:srgbClr val="14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417320"/>
            <a:ext cx="265176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5544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4560"/>
                </a:solidFill>
                <a:latin typeface="Calibri"/>
              </a:rPr>
              <a:t>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2677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Human Intervention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90672"/>
            <a:ext cx="5623560" cy="100584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90672"/>
            <a:ext cx="13716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182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Detect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93591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Python script calls /health every 10 seconds continuously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090672"/>
            <a:ext cx="5623560" cy="100584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090672"/>
            <a:ext cx="13716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182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alibri"/>
              </a:rPr>
              <a:t>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593591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CRITICAL alert when 2 consecutive failures detected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33672"/>
            <a:ext cx="5623560" cy="100584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233672"/>
            <a:ext cx="137160" cy="1005840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25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A"/>
                </a:solidFill>
                <a:latin typeface="Calibri"/>
              </a:rPr>
              <a:t>Recover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365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Automatic docker restart — container heals itself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233672"/>
            <a:ext cx="5623560" cy="100584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233672"/>
            <a:ext cx="137160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325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Calibri"/>
              </a:rPr>
              <a:t>Monitor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7365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Prometheus collects metrics every 15 seconds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76672"/>
            <a:ext cx="5623560" cy="100584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376672"/>
            <a:ext cx="137160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468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795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Kubernetes replaces crashed pods within 5 seconds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376672"/>
            <a:ext cx="5623560" cy="100584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5376672"/>
            <a:ext cx="137160" cy="1005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468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8795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Every event timestamped in automation/alerts.log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D0"/>
                </a:solidFill>
                <a:latin typeface="Calibri"/>
              </a:rPr>
              <a:t>7 modern tools integrated into one self-healing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44752"/>
            <a:ext cx="2788920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278892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093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75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  <a:latin typeface="Calibri"/>
              </a:rPr>
              <a:t>Containerization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1343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Packages Flask app into portable container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3163824"/>
            <a:ext cx="749808" cy="2377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3163824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  <a:latin typeface="Calibri"/>
              </a:rPr>
              <a:t>Week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444752"/>
            <a:ext cx="2788920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688" y="1444752"/>
            <a:ext cx="2788920" cy="7315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16093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975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7C4A"/>
                </a:solidFill>
                <a:latin typeface="Calibri"/>
              </a:rP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31343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Manages 3 pods, auto-replaces on crash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8928" y="3163824"/>
            <a:ext cx="749808" cy="2377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163824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  <a:latin typeface="Calibri"/>
              </a:rPr>
              <a:t>Week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1444752"/>
            <a:ext cx="2788920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1444752"/>
            <a:ext cx="278892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16093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Prometheus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1975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94560"/>
                </a:solidFill>
                <a:latin typeface="Calibri"/>
              </a:rP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231343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Scrapes /metrics endpoint every 15 seconds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3163824"/>
            <a:ext cx="749808" cy="2377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3163824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  <a:latin typeface="Calibri"/>
              </a:rPr>
              <a:t>Week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07424" y="1444752"/>
            <a:ext cx="2788920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07424" y="1444752"/>
            <a:ext cx="278892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16093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Grafana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1975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45309"/>
                </a:solidFill>
                <a:latin typeface="Calibri"/>
              </a:rPr>
              <a:t>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231343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Real-time dashboards — localhost:3000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27664" y="3163824"/>
            <a:ext cx="749808" cy="2377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09376" y="3163824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  <a:latin typeface="Calibri"/>
              </a:rPr>
              <a:t>Week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685032"/>
            <a:ext cx="2788920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685032"/>
            <a:ext cx="278892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496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Python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2153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D28D9"/>
                </a:solidFill>
                <a:latin typeface="Calibri"/>
              </a:rPr>
              <a:t>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55371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healing_script.py — checks health every 10s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5404104"/>
            <a:ext cx="749808" cy="2377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76272" y="5404104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  <a:latin typeface="Calibri"/>
              </a:rPr>
              <a:t>Week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18688" y="3685032"/>
            <a:ext cx="2788920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18688" y="3685032"/>
            <a:ext cx="278892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28416" y="38496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Flask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28416" y="42153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  <a:latin typeface="Calibri"/>
              </a:rPr>
              <a:t>Web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8416" y="455371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3 routes: / /health /metrics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38928" y="5404104"/>
            <a:ext cx="749808" cy="2377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5404104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  <a:latin typeface="Calibri"/>
              </a:rPr>
              <a:t>Week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63056" y="3685032"/>
            <a:ext cx="2788920" cy="20299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6" y="3685032"/>
            <a:ext cx="2788920" cy="7315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2784" y="38496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26"/>
                </a:solidFill>
                <a:latin typeface="Calibri"/>
              </a:rPr>
              <a:t>Compose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2784" y="42153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7C4A"/>
                </a:solidFill>
                <a:latin typeface="Calibri"/>
              </a:rPr>
              <a:t>Integration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2784" y="455371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docker-compose up -d starts everything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83296" y="5404104"/>
            <a:ext cx="749808" cy="2377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5008" y="5404104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56DB"/>
                </a:solidFill>
                <a:latin typeface="Calibri"/>
              </a:rPr>
              <a:t>Week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D0"/>
                </a:solidFill>
                <a:latin typeface="Calibri"/>
              </a:rPr>
              <a:t>How all components work together in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2103120" cy="100584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210312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DB"/>
                </a:solidFill>
                <a:latin typeface="Calibri"/>
              </a:rPr>
              <a:t>FLASK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Docker Container
localhost:5000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828800"/>
            <a:ext cx="2103120" cy="100584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828800"/>
            <a:ext cx="2103120" cy="64008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C4A"/>
                </a:solidFill>
                <a:latin typeface="Calibri"/>
              </a:rPr>
              <a:t>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286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3 Pods Running
Auto-replace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828800"/>
            <a:ext cx="2103120" cy="100584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21031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4560"/>
                </a:solidFill>
                <a:latin typeface="Calibri"/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286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Metrics every 15s
localhost:9090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828800"/>
            <a:ext cx="2103120" cy="100584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828800"/>
            <a:ext cx="2103120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5309"/>
                </a:solidFill>
                <a:latin typeface="Calibri"/>
              </a:rPr>
              <a:t>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286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Live Dashboards
localhost:3000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49039"/>
            <a:ext cx="2103120" cy="100584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2103120" cy="640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8404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D28D9"/>
                </a:solidFill>
                <a:latin typeface="Calibri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Browser Requests
Port 5000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749039"/>
            <a:ext cx="2103120" cy="100584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54680" y="3749039"/>
            <a:ext cx="2103120" cy="64008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38404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C4A"/>
                </a:solidFill>
                <a:latin typeface="Calibri"/>
              </a:rPr>
              <a:t>HEAL 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Checks /health
Every 10 sec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749039"/>
            <a:ext cx="2103120" cy="100584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3749039"/>
            <a:ext cx="210312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38404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ALERT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Failure Count
CRITICAL trigger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3749039"/>
            <a:ext cx="2103120" cy="100584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23960" y="3749039"/>
            <a:ext cx="2103120" cy="64008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38404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C4A"/>
                </a:solidFill>
                <a:latin typeface="Calibri"/>
              </a:rPr>
              <a:t>AUTO 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docker restart
Self-Healed!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41448" y="2212848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6290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2212848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6290"/>
                </a:solidFill>
                <a:latin typeface="Calibr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7" y="2212848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B6290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41448" y="4133087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7C4A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6088" y="4133087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7C4A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7" y="4133087"/>
            <a:ext cx="694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A7C4A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62456" y="2852928"/>
            <a:ext cx="36576" cy="9144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97096" y="2852928"/>
            <a:ext cx="36576" cy="9144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6290"/>
                </a:solidFill>
                <a:latin typeface="Calibri"/>
              </a:rPr>
              <a:t>MONITORING PIPELINE  ——&gt;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7C4A"/>
                </a:solidFill>
                <a:latin typeface="Calibri"/>
              </a:rPr>
              <a:t>SELF-HEALING PIPELINE  ——&gt;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B4D0"/>
                </a:solidFill>
                <a:latin typeface="Calibri"/>
              </a:rPr>
              <a:t>KEY FILES: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321808"/>
            <a:ext cx="1874519" cy="384048"/>
          </a:xfrm>
          <a:prstGeom prst="rect">
            <a:avLst/>
          </a:prstGeom>
          <a:solidFill>
            <a:srgbClr val="08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" y="5358384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56DB"/>
                </a:solidFill>
                <a:latin typeface="Courier New"/>
              </a:rPr>
              <a:t>app/app.py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0" y="5321808"/>
            <a:ext cx="1874519" cy="384048"/>
          </a:xfrm>
          <a:prstGeom prst="rect">
            <a:avLst/>
          </a:prstGeom>
          <a:solidFill>
            <a:srgbClr val="08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40864" y="5358384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56DB"/>
                </a:solidFill>
                <a:latin typeface="Courier New"/>
              </a:rPr>
              <a:t>app/Dockerfile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59" y="5321808"/>
            <a:ext cx="1874519" cy="384048"/>
          </a:xfrm>
          <a:prstGeom prst="rect">
            <a:avLst/>
          </a:prstGeom>
          <a:solidFill>
            <a:srgbClr val="08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06823" y="5358384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56DB"/>
                </a:solidFill>
                <a:latin typeface="Courier New"/>
              </a:rPr>
              <a:t>prometheus.yml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19" y="5321808"/>
            <a:ext cx="1874519" cy="384048"/>
          </a:xfrm>
          <a:prstGeom prst="rect">
            <a:avLst/>
          </a:prstGeom>
          <a:solidFill>
            <a:srgbClr val="08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72783" y="5358384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56DB"/>
                </a:solidFill>
                <a:latin typeface="Courier New"/>
              </a:rPr>
              <a:t>healing_script.py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79" y="5321808"/>
            <a:ext cx="1874519" cy="384048"/>
          </a:xfrm>
          <a:prstGeom prst="rect">
            <a:avLst/>
          </a:prstGeom>
          <a:solidFill>
            <a:srgbClr val="08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38744" y="5358384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56DB"/>
                </a:solidFill>
                <a:latin typeface="Courier New"/>
              </a:rPr>
              <a:t>deployment.yaml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49840" y="5321808"/>
            <a:ext cx="1874519" cy="384048"/>
          </a:xfrm>
          <a:prstGeom prst="rect">
            <a:avLst/>
          </a:prstGeom>
          <a:solidFill>
            <a:srgbClr val="08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04704" y="5358384"/>
            <a:ext cx="1783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56DB"/>
                </a:solidFill>
                <a:latin typeface="Courier New"/>
              </a:rPr>
              <a:t>docker-compose.yml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SELF-HEALING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D0"/>
                </a:solidFill>
                <a:latin typeface="Calibri"/>
              </a:rPr>
              <a:t>Step-by-step automated recovery — zero human involvement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82880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8288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7" y="1664208"/>
            <a:ext cx="694944" cy="6949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91640"/>
            <a:ext cx="694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56D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4871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26"/>
                </a:solidFill>
                <a:latin typeface="Calibri"/>
              </a:rPr>
              <a:t>App Running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94436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Flask runs in Docker
localhost:5000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1508760"/>
            <a:ext cx="182880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1508760"/>
            <a:ext cx="1828800" cy="7315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1216" y="1664208"/>
            <a:ext cx="694944" cy="694944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6" y="1691640"/>
            <a:ext cx="694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7C4A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0008" y="24871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26"/>
                </a:solidFill>
                <a:latin typeface="Calibri"/>
              </a:rPr>
              <a:t>Health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0008" y="294436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Script calls /health
every 10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4256" y="1508760"/>
            <a:ext cx="182880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4256" y="1508760"/>
            <a:ext cx="182880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01184" y="1664208"/>
            <a:ext cx="694944" cy="69494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1691640"/>
            <a:ext cx="694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45309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24871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26"/>
                </a:solidFill>
                <a:latin typeface="Calibri"/>
              </a:rPr>
              <a:t>Failure!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294436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Connection failed!
count =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4224" y="1508760"/>
            <a:ext cx="182880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64224" y="1508760"/>
            <a:ext cx="182880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31152" y="1664208"/>
            <a:ext cx="694944" cy="694944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1691640"/>
            <a:ext cx="694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24871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26"/>
                </a:solidFill>
                <a:latin typeface="Calibri"/>
              </a:rP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294436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2 failures! Alert!
Healing triggered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4192" y="1508760"/>
            <a:ext cx="182880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94192" y="1508760"/>
            <a:ext cx="1828800" cy="7315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1119" y="1664208"/>
            <a:ext cx="694944" cy="694944"/>
          </a:xfrm>
          <a:prstGeom prst="rect">
            <a:avLst/>
          </a:prstGeom>
          <a:solidFill>
            <a:srgbClr val="E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19" y="1691640"/>
            <a:ext cx="694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7C4A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24871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26"/>
                </a:solidFill>
                <a:latin typeface="Calibri"/>
              </a:rPr>
              <a:t>Auto Restart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2" y="294436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docker restart my-app
Back in &lt; 5 sec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2992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24160" y="1508760"/>
            <a:ext cx="182880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24160" y="1508760"/>
            <a:ext cx="18288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91088" y="1664208"/>
            <a:ext cx="694944" cy="69494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91088" y="1691640"/>
            <a:ext cx="6949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56DB"/>
                </a:solidFill>
                <a:latin typeface="Calibri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248716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26"/>
                </a:solidFill>
                <a:latin typeface="Calibri"/>
              </a:rPr>
              <a:t>Recovered!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2944368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App healthy again!
Log updated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4736592"/>
            <a:ext cx="8531352" cy="685800"/>
          </a:xfrm>
          <a:prstGeom prst="rect">
            <a:avLst/>
          </a:prstGeom>
          <a:solidFill>
            <a:srgbClr val="0D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0" y="484632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7C4A"/>
                </a:solidFill>
                <a:latin typeface="Calibri"/>
              </a:rPr>
              <a:t>Total Recovery Time: Under 30 Seconds  |  Human Intervention: ZERO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ALERTS.LOG OUTPUT: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925312"/>
            <a:ext cx="288036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5989320"/>
            <a:ext cx="2706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  <a:latin typeface="Courier New"/>
              </a:rPr>
              <a:t>[DOWN] App is DOWN - Connection failed!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55263" y="5925312"/>
            <a:ext cx="288036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64991" y="5989320"/>
            <a:ext cx="2706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  <a:latin typeface="Courier New"/>
              </a:rPr>
              <a:t>[CRITICAL] Triggering self-healing!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6207" y="5925312"/>
            <a:ext cx="288036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5989320"/>
            <a:ext cx="2706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56DB"/>
                </a:solidFill>
                <a:latin typeface="Courier New"/>
              </a:rPr>
              <a:t>[RESTART] Restarting container...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7152" y="5925312"/>
            <a:ext cx="2880360" cy="6583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5989320"/>
            <a:ext cx="27066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7C4A"/>
                </a:solidFill>
                <a:latin typeface="Courier New"/>
              </a:rPr>
              <a:t>[SUCCESS] Self-healing successful!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D0"/>
                </a:solidFill>
                <a:latin typeface="Calibri"/>
              </a:rPr>
              <a:t>Watch the system detect, respond and heal —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81328"/>
            <a:ext cx="3703320" cy="210312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370332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3776" y="1609344"/>
            <a:ext cx="438912" cy="4389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60934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Show Running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2231136"/>
            <a:ext cx="3429000" cy="914400"/>
          </a:xfrm>
          <a:prstGeom prst="rect">
            <a:avLst/>
          </a:prstGeom>
          <a:solidFill>
            <a:srgbClr val="08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304288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Courier New"/>
              </a:rPr>
              <a:t>Open localhost:5000
Open localhost:5000/health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481328"/>
            <a:ext cx="3703320" cy="210312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81328"/>
            <a:ext cx="3703320" cy="64008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43984" y="1609344"/>
            <a:ext cx="438912" cy="43891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60934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A"/>
                </a:solidFill>
                <a:latin typeface="Calibri"/>
              </a:rPr>
              <a:t>Docker Containers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3984" y="2231136"/>
            <a:ext cx="3429000" cy="914400"/>
          </a:xfrm>
          <a:prstGeom prst="rect">
            <a:avLst/>
          </a:prstGeom>
          <a:solidFill>
            <a:srgbClr val="08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2304288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Courier New"/>
              </a:rPr>
              <a:t>docker ps
kubectl get pods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66176" y="1481328"/>
            <a:ext cx="3703320" cy="210312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176" y="1481328"/>
            <a:ext cx="3703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94192" y="1609344"/>
            <a:ext cx="438912" cy="43891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60934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16459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  <a:latin typeface="Calibri"/>
              </a:rPr>
              <a:t>Prometheus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94192" y="2231136"/>
            <a:ext cx="3429000" cy="914400"/>
          </a:xfrm>
          <a:prstGeom prst="rect">
            <a:avLst/>
          </a:prstGeom>
          <a:solidFill>
            <a:srgbClr val="08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2304288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Courier New"/>
              </a:rPr>
              <a:t>localhost:9090
Query: app_request_count_total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13048"/>
            <a:ext cx="3703320" cy="210312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813048"/>
            <a:ext cx="3703320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6" y="3941063"/>
            <a:ext cx="438912" cy="43891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3941063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977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5309"/>
                </a:solidFill>
                <a:latin typeface="Calibri"/>
              </a:rPr>
              <a:t>Grafana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" y="4562856"/>
            <a:ext cx="3429000" cy="914400"/>
          </a:xfrm>
          <a:prstGeom prst="rect">
            <a:avLst/>
          </a:prstGeom>
          <a:solidFill>
            <a:srgbClr val="08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4636008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Courier New"/>
              </a:rPr>
              <a:t>localhost:3000
Self-Healing Cloud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3813048"/>
            <a:ext cx="3703320" cy="210312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5968" y="3813048"/>
            <a:ext cx="370332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43984" y="3941063"/>
            <a:ext cx="438912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4" y="3941063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1768" y="3977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CRASH THE APP!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43984" y="4562856"/>
            <a:ext cx="3429000" cy="914400"/>
          </a:xfrm>
          <a:prstGeom prst="rect">
            <a:avLst/>
          </a:prstGeom>
          <a:solidFill>
            <a:srgbClr val="08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35424" y="4636008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Courier New"/>
              </a:rPr>
              <a:t>docker stop my-app
Watch Terminal 1 — LIVE!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6" y="3813048"/>
            <a:ext cx="3703320" cy="2103120"/>
          </a:xfrm>
          <a:prstGeom prst="rect">
            <a:avLst/>
          </a:prstGeom>
          <a:solidFill>
            <a:srgbClr val="0E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66176" y="3813048"/>
            <a:ext cx="3703320" cy="64008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94192" y="3941063"/>
            <a:ext cx="438912" cy="43891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3941063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1976" y="3977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A"/>
                </a:solidFill>
                <a:latin typeface="Calibri"/>
              </a:rPr>
              <a:t>AUTO RECOVERY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94192" y="4562856"/>
            <a:ext cx="3429000" cy="914400"/>
          </a:xfrm>
          <a:prstGeom prst="rect">
            <a:avLst/>
          </a:prstGeom>
          <a:solidFill>
            <a:srgbClr val="08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4636008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  <a:latin typeface="Courier New"/>
              </a:rPr>
              <a:t>[CRITICAL] detected!
[SUCCESS] Self-healing!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355080"/>
            <a:ext cx="11430000" cy="384048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38251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45309"/>
                </a:solidFill>
                <a:latin typeface="Calibri"/>
              </a:rPr>
              <a:t>MOST IMPRESSIVE: Step 5 — Crash the app and watch it auto-recover in under 30 seconds!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0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&amp;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D0"/>
                </a:solidFill>
                <a:latin typeface="Calibri"/>
              </a:rPr>
              <a:t>What we successfully built and demonstrated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703320" cy="7315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7C4A"/>
                </a:solidFill>
                <a:latin typeface="Calibri"/>
              </a:rPr>
              <a:t>&lt; 30s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26"/>
                </a:solidFill>
                <a:latin typeface="Calibri"/>
              </a:rPr>
              <a:t>Recovery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2491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Crash to full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46304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463040"/>
            <a:ext cx="370332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62763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  <a:latin typeface="Calibri"/>
              </a:rPr>
              <a:t>3 Pods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33172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26"/>
                </a:solidFill>
                <a:latin typeface="Calibri"/>
              </a:rPr>
              <a:t>K8s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2491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Auto-replace on failure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146304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6" y="1463040"/>
            <a:ext cx="370332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62763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45309"/>
                </a:solidFill>
                <a:latin typeface="Calibri"/>
              </a:rPr>
              <a:t>10s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33172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26"/>
                </a:solidFill>
                <a:latin typeface="Calibr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72491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Script checks every 10 sec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3703320" cy="73152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3931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7C4A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34340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26"/>
                </a:solidFill>
                <a:latin typeface="Calibri"/>
              </a:rPr>
              <a:t>Success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3659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All self-heals worked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347472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5968" y="3474720"/>
            <a:ext cx="370332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63931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  <a:latin typeface="Calibri"/>
              </a:rPr>
              <a:t>24/7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34340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26"/>
                </a:solidFill>
                <a:latin typeface="Calibri"/>
              </a:rPr>
              <a:t>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473659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Prometheus + Grafana 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6" y="3474720"/>
            <a:ext cx="37033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6176" y="3474720"/>
            <a:ext cx="370332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6" y="3639312"/>
            <a:ext cx="3703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D28D9"/>
                </a:solidFill>
                <a:latin typeface="Calibri"/>
              </a:rPr>
              <a:t>1 CMD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4343400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26"/>
                </a:solidFill>
                <a:latin typeface="Calibri"/>
              </a:rPr>
              <a:t>Full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73659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docker-compose up -d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2910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6DB"/>
                </a:solidFill>
                <a:latin typeface="Calibri"/>
              </a:rPr>
              <a:t>GitHub: github.com/gla-cloud-healing/cloud-healing-project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97512" y="0"/>
            <a:ext cx="91440" cy="6858000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A7C4A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Our Secure Self-Healing Cloud Infrastructure project successfully demonstrates
how modern DevOps tools can be combined to build a fully automated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A"/>
                </a:solidFill>
                <a:latin typeface="Calibri"/>
              </a:rPr>
              <a:t>Skills &amp; Knowledge Gained: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761488"/>
            <a:ext cx="9144000" cy="420624"/>
          </a:xfrm>
          <a:prstGeom prst="rect">
            <a:avLst/>
          </a:prstGeom>
          <a:solidFill>
            <a:srgbClr val="0E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0720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0720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D0"/>
                </a:solidFill>
                <a:latin typeface="Calibri"/>
              </a:rPr>
              <a:t>—  Containerization &amp; portable deployment across environments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236976"/>
            <a:ext cx="9144000" cy="420624"/>
          </a:xfrm>
          <a:prstGeom prst="rect">
            <a:avLst/>
          </a:prstGeom>
          <a:solidFill>
            <a:srgbClr val="0E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826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28269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D0"/>
                </a:solidFill>
                <a:latin typeface="Calibri"/>
              </a:rPr>
              <a:t>—  Container orchestration &amp; infrastructure-level self-healing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712464"/>
            <a:ext cx="9144000" cy="420624"/>
          </a:xfrm>
          <a:prstGeom prst="rect">
            <a:avLst/>
          </a:prstGeom>
          <a:solidFill>
            <a:srgbClr val="0E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75818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758184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D0"/>
                </a:solidFill>
                <a:latin typeface="Calibri"/>
              </a:rPr>
              <a:t>—  Metrics collection, monitoring &amp; alerting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187952"/>
            <a:ext cx="9144000" cy="420624"/>
          </a:xfrm>
          <a:prstGeom prst="rect">
            <a:avLst/>
          </a:prstGeom>
          <a:solidFill>
            <a:srgbClr val="0E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2336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Grafana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233672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D0"/>
                </a:solidFill>
                <a:latin typeface="Calibri"/>
              </a:rPr>
              <a:t>—  Real-time data visualization &amp; dashboard creation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663440"/>
            <a:ext cx="9144000" cy="420624"/>
          </a:xfrm>
          <a:prstGeom prst="rect">
            <a:avLst/>
          </a:prstGeom>
          <a:solidFill>
            <a:srgbClr val="0E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70915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709159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4D0"/>
                </a:solidFill>
                <a:latin typeface="Calibri"/>
              </a:rPr>
              <a:t>—  Automation scripting &amp; incident response development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349240"/>
            <a:ext cx="9445752" cy="868680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5349240"/>
            <a:ext cx="109728" cy="868680"/>
          </a:xfrm>
          <a:prstGeom prst="rect">
            <a:avLst/>
          </a:prstGeom>
          <a:solidFill>
            <a:srgbClr val="0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5394960"/>
            <a:ext cx="9052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A7C4A"/>
                </a:solidFill>
                <a:latin typeface="Calibri"/>
              </a:rPr>
              <a:t>"The system detects failures in under 20 seconds and recovers automatically
— zero human intervention required."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Calibri"/>
              </a:rPr>
              <a:t>GLA University  |  Dr. Monica Dutta  |  Dept. of Computer Science  |  2024-25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